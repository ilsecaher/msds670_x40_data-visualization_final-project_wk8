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70" r:id="rId3"/>
    <p:sldId id="271" r:id="rId4"/>
    <p:sldId id="268" r:id="rId5"/>
    <p:sldId id="269" r:id="rId6"/>
    <p:sldId id="263" r:id="rId7"/>
    <p:sldId id="266" r:id="rId8"/>
    <p:sldId id="265"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906946-3FC6-4510-A257-B445C9E54B92}" v="8" dt="2026-03-08T07:15:38.3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7482" autoAdjust="0"/>
  </p:normalViewPr>
  <p:slideViewPr>
    <p:cSldViewPr snapToGrid="0">
      <p:cViewPr varScale="1">
        <p:scale>
          <a:sx n="77" d="100"/>
          <a:sy n="77" d="100"/>
        </p:scale>
        <p:origin x="3546"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Severance" userId="1a18d78a14edeefb" providerId="LiveId" clId="{72869ECB-5009-46E4-B19E-B11F8D37C651}"/>
    <pc:docChg chg="undo custSel addSld delSld modSld sldOrd">
      <pc:chgData name="Nathan Severance" userId="1a18d78a14edeefb" providerId="LiveId" clId="{72869ECB-5009-46E4-B19E-B11F8D37C651}" dt="2026-03-09T02:43:45.390" v="2043" actId="20577"/>
      <pc:docMkLst>
        <pc:docMk/>
      </pc:docMkLst>
      <pc:sldChg chg="modSp mod">
        <pc:chgData name="Nathan Severance" userId="1a18d78a14edeefb" providerId="LiveId" clId="{72869ECB-5009-46E4-B19E-B11F8D37C651}" dt="2026-03-07T03:15:36.185" v="1287" actId="20577"/>
        <pc:sldMkLst>
          <pc:docMk/>
          <pc:sldMk cId="659868273" sldId="256"/>
        </pc:sldMkLst>
        <pc:spChg chg="mod">
          <ac:chgData name="Nathan Severance" userId="1a18d78a14edeefb" providerId="LiveId" clId="{72869ECB-5009-46E4-B19E-B11F8D37C651}" dt="2026-03-07T03:15:36.185" v="1287" actId="20577"/>
          <ac:spMkLst>
            <pc:docMk/>
            <pc:sldMk cId="659868273" sldId="256"/>
            <ac:spMk id="3" creationId="{8DCBC2B6-3355-C804-7288-D09406F35CBB}"/>
          </ac:spMkLst>
        </pc:spChg>
      </pc:sldChg>
      <pc:sldChg chg="modSp mod">
        <pc:chgData name="Nathan Severance" userId="1a18d78a14edeefb" providerId="LiveId" clId="{72869ECB-5009-46E4-B19E-B11F8D37C651}" dt="2026-03-07T03:14:59.328" v="1268" actId="1076"/>
        <pc:sldMkLst>
          <pc:docMk/>
          <pc:sldMk cId="1760014349" sldId="261"/>
        </pc:sldMkLst>
        <pc:spChg chg="mod">
          <ac:chgData name="Nathan Severance" userId="1a18d78a14edeefb" providerId="LiveId" clId="{72869ECB-5009-46E4-B19E-B11F8D37C651}" dt="2026-03-07T03:14:59.328" v="1268" actId="1076"/>
          <ac:spMkLst>
            <pc:docMk/>
            <pc:sldMk cId="1760014349" sldId="261"/>
            <ac:spMk id="2" creationId="{10DD6AF4-8761-08FE-35AE-2528C342EE7A}"/>
          </ac:spMkLst>
        </pc:spChg>
        <pc:spChg chg="mod">
          <ac:chgData name="Nathan Severance" userId="1a18d78a14edeefb" providerId="LiveId" clId="{72869ECB-5009-46E4-B19E-B11F8D37C651}" dt="2026-03-07T03:14:55.033" v="1267" actId="1076"/>
          <ac:spMkLst>
            <pc:docMk/>
            <pc:sldMk cId="1760014349" sldId="261"/>
            <ac:spMk id="3" creationId="{C47C8D3E-8E53-0A00-E368-9482D92859D7}"/>
          </ac:spMkLst>
        </pc:spChg>
      </pc:sldChg>
      <pc:sldChg chg="addSp delSp modSp new mod ord modNotesTx">
        <pc:chgData name="Nathan Severance" userId="1a18d78a14edeefb" providerId="LiveId" clId="{72869ECB-5009-46E4-B19E-B11F8D37C651}" dt="2026-03-09T02:43:40.049" v="2041" actId="20577"/>
        <pc:sldMkLst>
          <pc:docMk/>
          <pc:sldMk cId="287167796" sldId="263"/>
        </pc:sldMkLst>
        <pc:spChg chg="mod">
          <ac:chgData name="Nathan Severance" userId="1a18d78a14edeefb" providerId="LiveId" clId="{72869ECB-5009-46E4-B19E-B11F8D37C651}" dt="2026-03-06T23:08:59.590" v="582" actId="20577"/>
          <ac:spMkLst>
            <pc:docMk/>
            <pc:sldMk cId="287167796" sldId="263"/>
            <ac:spMk id="2" creationId="{1DBA189E-738D-076D-CD8D-0714D74FC153}"/>
          </ac:spMkLst>
        </pc:spChg>
        <pc:spChg chg="add del mod">
          <ac:chgData name="Nathan Severance" userId="1a18d78a14edeefb" providerId="LiveId" clId="{72869ECB-5009-46E4-B19E-B11F8D37C651}" dt="2026-03-07T04:18:47.210" v="1323" actId="6549"/>
          <ac:spMkLst>
            <pc:docMk/>
            <pc:sldMk cId="287167796" sldId="263"/>
            <ac:spMk id="6" creationId="{98AE91AD-727F-7F0A-C2D8-CDA239158CCD}"/>
          </ac:spMkLst>
        </pc:spChg>
        <pc:picChg chg="add mod">
          <ac:chgData name="Nathan Severance" userId="1a18d78a14edeefb" providerId="LiveId" clId="{72869ECB-5009-46E4-B19E-B11F8D37C651}" dt="2026-03-07T02:56:49.228" v="1051" actId="1076"/>
          <ac:picMkLst>
            <pc:docMk/>
            <pc:sldMk cId="287167796" sldId="263"/>
            <ac:picMk id="9" creationId="{05384037-0CD9-D774-1299-1E2AFD028374}"/>
          </ac:picMkLst>
        </pc:picChg>
      </pc:sldChg>
      <pc:sldChg chg="addSp modSp new mod modNotesTx">
        <pc:chgData name="Nathan Severance" userId="1a18d78a14edeefb" providerId="LiveId" clId="{72869ECB-5009-46E4-B19E-B11F8D37C651}" dt="2026-03-09T02:43:45.390" v="2043" actId="20577"/>
        <pc:sldMkLst>
          <pc:docMk/>
          <pc:sldMk cId="682779298" sldId="265"/>
        </pc:sldMkLst>
        <pc:spChg chg="mod">
          <ac:chgData name="Nathan Severance" userId="1a18d78a14edeefb" providerId="LiveId" clId="{72869ECB-5009-46E4-B19E-B11F8D37C651}" dt="2026-03-03T02:42:21.929" v="206" actId="20577"/>
          <ac:spMkLst>
            <pc:docMk/>
            <pc:sldMk cId="682779298" sldId="265"/>
            <ac:spMk id="2" creationId="{9C8F3817-CAE0-9DD3-218D-13D73B5BB1D4}"/>
          </ac:spMkLst>
        </pc:spChg>
        <pc:spChg chg="mod">
          <ac:chgData name="Nathan Severance" userId="1a18d78a14edeefb" providerId="LiveId" clId="{72869ECB-5009-46E4-B19E-B11F8D37C651}" dt="2026-03-07T04:19:50.937" v="1325" actId="20577"/>
          <ac:spMkLst>
            <pc:docMk/>
            <pc:sldMk cId="682779298" sldId="265"/>
            <ac:spMk id="3" creationId="{63BA87D4-8EBC-20DD-C93D-66570E91D1EB}"/>
          </ac:spMkLst>
        </pc:spChg>
        <pc:picChg chg="add mod">
          <ac:chgData name="Nathan Severance" userId="1a18d78a14edeefb" providerId="LiveId" clId="{72869ECB-5009-46E4-B19E-B11F8D37C651}" dt="2026-03-07T02:55:57.623" v="1038" actId="1076"/>
          <ac:picMkLst>
            <pc:docMk/>
            <pc:sldMk cId="682779298" sldId="265"/>
            <ac:picMk id="5" creationId="{46CEAD8E-150F-CD90-2C79-F5B112C518E6}"/>
          </ac:picMkLst>
        </pc:picChg>
      </pc:sldChg>
      <pc:sldChg chg="addSp delSp modSp new mod ord modNotesTx">
        <pc:chgData name="Nathan Severance" userId="1a18d78a14edeefb" providerId="LiveId" clId="{72869ECB-5009-46E4-B19E-B11F8D37C651}" dt="2026-03-09T02:43:42.645" v="2042" actId="20577"/>
        <pc:sldMkLst>
          <pc:docMk/>
          <pc:sldMk cId="130877541" sldId="266"/>
        </pc:sldMkLst>
        <pc:spChg chg="mod">
          <ac:chgData name="Nathan Severance" userId="1a18d78a14edeefb" providerId="LiveId" clId="{72869ECB-5009-46E4-B19E-B11F8D37C651}" dt="2026-03-06T23:12:16.775" v="635" actId="20577"/>
          <ac:spMkLst>
            <pc:docMk/>
            <pc:sldMk cId="130877541" sldId="266"/>
            <ac:spMk id="2" creationId="{2DE49104-3F75-7BB7-E8C4-F0C045629155}"/>
          </ac:spMkLst>
        </pc:spChg>
        <pc:spChg chg="add mod">
          <ac:chgData name="Nathan Severance" userId="1a18d78a14edeefb" providerId="LiveId" clId="{72869ECB-5009-46E4-B19E-B11F8D37C651}" dt="2026-03-07T02:56:12.800" v="1041" actId="14100"/>
          <ac:spMkLst>
            <pc:docMk/>
            <pc:sldMk cId="130877541" sldId="266"/>
            <ac:spMk id="6" creationId="{C3CD71AC-900B-11BA-BFB3-1FC4CBDF5D7F}"/>
          </ac:spMkLst>
        </pc:spChg>
        <pc:picChg chg="add mod">
          <ac:chgData name="Nathan Severance" userId="1a18d78a14edeefb" providerId="LiveId" clId="{72869ECB-5009-46E4-B19E-B11F8D37C651}" dt="2026-03-07T02:56:09.802" v="1040" actId="1076"/>
          <ac:picMkLst>
            <pc:docMk/>
            <pc:sldMk cId="130877541" sldId="266"/>
            <ac:picMk id="8" creationId="{9142AB54-8DBA-F41B-ADA9-422DC9738DE5}"/>
          </ac:picMkLst>
        </pc:picChg>
      </pc:sldChg>
      <pc:sldChg chg="addSp delSp modSp new mod modNotesTx">
        <pc:chgData name="Nathan Severance" userId="1a18d78a14edeefb" providerId="LiveId" clId="{72869ECB-5009-46E4-B19E-B11F8D37C651}" dt="2026-03-09T02:43:35.472" v="2039" actId="20577"/>
        <pc:sldMkLst>
          <pc:docMk/>
          <pc:sldMk cId="1742541449" sldId="268"/>
        </pc:sldMkLst>
        <pc:spChg chg="mod">
          <ac:chgData name="Nathan Severance" userId="1a18d78a14edeefb" providerId="LiveId" clId="{72869ECB-5009-46E4-B19E-B11F8D37C651}" dt="2026-03-03T03:24:27.264" v="373" actId="6549"/>
          <ac:spMkLst>
            <pc:docMk/>
            <pc:sldMk cId="1742541449" sldId="268"/>
            <ac:spMk id="2" creationId="{A7809520-2B49-3AF2-6320-A16B6B4B9366}"/>
          </ac:spMkLst>
        </pc:spChg>
        <pc:spChg chg="add mod">
          <ac:chgData name="Nathan Severance" userId="1a18d78a14edeefb" providerId="LiveId" clId="{72869ECB-5009-46E4-B19E-B11F8D37C651}" dt="2026-03-08T06:06:33.991" v="1338" actId="113"/>
          <ac:spMkLst>
            <pc:docMk/>
            <pc:sldMk cId="1742541449" sldId="268"/>
            <ac:spMk id="7" creationId="{01B89B4F-C52C-D6E7-D197-04D74D26FE77}"/>
          </ac:spMkLst>
        </pc:spChg>
        <pc:picChg chg="add mod">
          <ac:chgData name="Nathan Severance" userId="1a18d78a14edeefb" providerId="LiveId" clId="{72869ECB-5009-46E4-B19E-B11F8D37C651}" dt="2026-03-07T02:52:10.437" v="995" actId="14100"/>
          <ac:picMkLst>
            <pc:docMk/>
            <pc:sldMk cId="1742541449" sldId="268"/>
            <ac:picMk id="5" creationId="{07424A01-75F4-7C6E-B390-DF92C2D00E89}"/>
          </ac:picMkLst>
        </pc:picChg>
      </pc:sldChg>
      <pc:sldChg chg="addSp delSp modSp new mod modNotesTx">
        <pc:chgData name="Nathan Severance" userId="1a18d78a14edeefb" providerId="LiveId" clId="{72869ECB-5009-46E4-B19E-B11F8D37C651}" dt="2026-03-09T02:43:38.185" v="2040" actId="20577"/>
        <pc:sldMkLst>
          <pc:docMk/>
          <pc:sldMk cId="366813528" sldId="269"/>
        </pc:sldMkLst>
        <pc:spChg chg="mod">
          <ac:chgData name="Nathan Severance" userId="1a18d78a14edeefb" providerId="LiveId" clId="{72869ECB-5009-46E4-B19E-B11F8D37C651}" dt="2026-03-06T22:43:19.175" v="574" actId="20577"/>
          <ac:spMkLst>
            <pc:docMk/>
            <pc:sldMk cId="366813528" sldId="269"/>
            <ac:spMk id="2" creationId="{D2DA5A15-E115-AAB5-FC6E-7565D01A9DFD}"/>
          </ac:spMkLst>
        </pc:spChg>
        <pc:spChg chg="add mod">
          <ac:chgData name="Nathan Severance" userId="1a18d78a14edeefb" providerId="LiveId" clId="{72869ECB-5009-46E4-B19E-B11F8D37C651}" dt="2026-03-07T03:13:22.368" v="1236" actId="20577"/>
          <ac:spMkLst>
            <pc:docMk/>
            <pc:sldMk cId="366813528" sldId="269"/>
            <ac:spMk id="4" creationId="{FF45B6A7-346E-21D9-8820-BEC4C2996898}"/>
          </ac:spMkLst>
        </pc:spChg>
        <pc:picChg chg="add mod">
          <ac:chgData name="Nathan Severance" userId="1a18d78a14edeefb" providerId="LiveId" clId="{72869ECB-5009-46E4-B19E-B11F8D37C651}" dt="2026-03-07T02:51:58.788" v="992" actId="1076"/>
          <ac:picMkLst>
            <pc:docMk/>
            <pc:sldMk cId="366813528" sldId="269"/>
            <ac:picMk id="8" creationId="{81E1CF4A-DB9F-6D1E-9936-03A8E93376E0}"/>
          </ac:picMkLst>
        </pc:picChg>
      </pc:sldChg>
      <pc:sldChg chg="modSp new mod modNotesTx">
        <pc:chgData name="Nathan Severance" userId="1a18d78a14edeefb" providerId="LiveId" clId="{72869ECB-5009-46E4-B19E-B11F8D37C651}" dt="2026-03-09T02:43:25.338" v="2037" actId="20577"/>
        <pc:sldMkLst>
          <pc:docMk/>
          <pc:sldMk cId="2930512529" sldId="270"/>
        </pc:sldMkLst>
        <pc:spChg chg="mod">
          <ac:chgData name="Nathan Severance" userId="1a18d78a14edeefb" providerId="LiveId" clId="{72869ECB-5009-46E4-B19E-B11F8D37C651}" dt="2026-03-07T02:58:24.449" v="1080" actId="14100"/>
          <ac:spMkLst>
            <pc:docMk/>
            <pc:sldMk cId="2930512529" sldId="270"/>
            <ac:spMk id="2" creationId="{BAC98FE1-9000-FB33-8C6E-C5A107CE26D1}"/>
          </ac:spMkLst>
        </pc:spChg>
        <pc:spChg chg="mod">
          <ac:chgData name="Nathan Severance" userId="1a18d78a14edeefb" providerId="LiveId" clId="{72869ECB-5009-46E4-B19E-B11F8D37C651}" dt="2026-03-08T07:00:27.544" v="1564" actId="20577"/>
          <ac:spMkLst>
            <pc:docMk/>
            <pc:sldMk cId="2930512529" sldId="270"/>
            <ac:spMk id="3" creationId="{569D5FCB-2DF4-8820-198C-49E02E97E7C2}"/>
          </ac:spMkLst>
        </pc:spChg>
      </pc:sldChg>
      <pc:sldChg chg="addSp delSp modSp new mod modNotesTx">
        <pc:chgData name="Nathan Severance" userId="1a18d78a14edeefb" providerId="LiveId" clId="{72869ECB-5009-46E4-B19E-B11F8D37C651}" dt="2026-03-09T02:43:32.881" v="2038" actId="20577"/>
        <pc:sldMkLst>
          <pc:docMk/>
          <pc:sldMk cId="4285418763" sldId="271"/>
        </pc:sldMkLst>
        <pc:spChg chg="mod">
          <ac:chgData name="Nathan Severance" userId="1a18d78a14edeefb" providerId="LiveId" clId="{72869ECB-5009-46E4-B19E-B11F8D37C651}" dt="2026-03-07T02:48:19.838" v="942" actId="14100"/>
          <ac:spMkLst>
            <pc:docMk/>
            <pc:sldMk cId="4285418763" sldId="271"/>
            <ac:spMk id="2" creationId="{8CCAC4E6-15AB-359E-D136-0EB2ABA1D764}"/>
          </ac:spMkLst>
        </pc:spChg>
        <pc:spChg chg="mod">
          <ac:chgData name="Nathan Severance" userId="1a18d78a14edeefb" providerId="LiveId" clId="{72869ECB-5009-46E4-B19E-B11F8D37C651}" dt="2026-03-08T06:50:55.012" v="1490" actId="20577"/>
          <ac:spMkLst>
            <pc:docMk/>
            <pc:sldMk cId="4285418763" sldId="271"/>
            <ac:spMk id="3" creationId="{FE9304E2-E172-F6D7-0EAE-CC96AF5361D1}"/>
          </ac:spMkLst>
        </pc:spChg>
      </pc:sldChg>
      <pc:sldChg chg="new del">
        <pc:chgData name="Nathan Severance" userId="1a18d78a14edeefb" providerId="LiveId" clId="{72869ECB-5009-46E4-B19E-B11F8D37C651}" dt="2026-03-09T01:33:40.229" v="1963" actId="47"/>
        <pc:sldMkLst>
          <pc:docMk/>
          <pc:sldMk cId="856720891" sldId="272"/>
        </pc:sldMkLst>
      </pc:sldChg>
      <pc:sldChg chg="new del">
        <pc:chgData name="Nathan Severance" userId="1a18d78a14edeefb" providerId="LiveId" clId="{72869ECB-5009-46E4-B19E-B11F8D37C651}" dt="2026-03-09T01:33:38.678" v="1962" actId="47"/>
        <pc:sldMkLst>
          <pc:docMk/>
          <pc:sldMk cId="29491397" sldId="273"/>
        </pc:sldMkLst>
      </pc:sldChg>
      <pc:sldChg chg="new del">
        <pc:chgData name="Nathan Severance" userId="1a18d78a14edeefb" providerId="LiveId" clId="{72869ECB-5009-46E4-B19E-B11F8D37C651}" dt="2026-03-09T01:33:37.143" v="1961" actId="47"/>
        <pc:sldMkLst>
          <pc:docMk/>
          <pc:sldMk cId="1501272609"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AD88B0-EFFC-4ED7-924E-41A24B6A0193}"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89FA7A-EF42-43C4-B5EC-509CAA7422BD}" type="slidenum">
              <a:rPr lang="en-US" smtClean="0"/>
              <a:t>‹#›</a:t>
            </a:fld>
            <a:endParaRPr lang="en-US"/>
          </a:p>
        </p:txBody>
      </p:sp>
    </p:spTree>
    <p:extLst>
      <p:ext uri="{BB962C8B-B14F-4D97-AF65-F5344CB8AC3E}">
        <p14:creationId xmlns:p14="http://schemas.microsoft.com/office/powerpoint/2010/main" val="118993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9FA7A-EF42-43C4-B5EC-509CAA7422BD}" type="slidenum">
              <a:rPr lang="en-US" smtClean="0"/>
              <a:t>1</a:t>
            </a:fld>
            <a:endParaRPr lang="en-US"/>
          </a:p>
        </p:txBody>
      </p:sp>
    </p:spTree>
    <p:extLst>
      <p:ext uri="{BB962C8B-B14F-4D97-AF65-F5344CB8AC3E}">
        <p14:creationId xmlns:p14="http://schemas.microsoft.com/office/powerpoint/2010/main" val="318484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9FA7A-EF42-43C4-B5EC-509CAA7422BD}" type="slidenum">
              <a:rPr lang="en-US" smtClean="0"/>
              <a:t>2</a:t>
            </a:fld>
            <a:endParaRPr lang="en-US"/>
          </a:p>
        </p:txBody>
      </p:sp>
    </p:spTree>
    <p:extLst>
      <p:ext uri="{BB962C8B-B14F-4D97-AF65-F5344CB8AC3E}">
        <p14:creationId xmlns:p14="http://schemas.microsoft.com/office/powerpoint/2010/main" val="103187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9FA7A-EF42-43C4-B5EC-509CAA7422BD}" type="slidenum">
              <a:rPr lang="en-US" smtClean="0"/>
              <a:t>3</a:t>
            </a:fld>
            <a:endParaRPr lang="en-US"/>
          </a:p>
        </p:txBody>
      </p:sp>
    </p:spTree>
    <p:extLst>
      <p:ext uri="{BB962C8B-B14F-4D97-AF65-F5344CB8AC3E}">
        <p14:creationId xmlns:p14="http://schemas.microsoft.com/office/powerpoint/2010/main" val="4141387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dirty="0"/>
          </a:p>
        </p:txBody>
      </p:sp>
      <p:sp>
        <p:nvSpPr>
          <p:cNvPr id="4" name="Slide Number Placeholder 3"/>
          <p:cNvSpPr>
            <a:spLocks noGrp="1"/>
          </p:cNvSpPr>
          <p:nvPr>
            <p:ph type="sldNum" sz="quarter" idx="5"/>
          </p:nvPr>
        </p:nvSpPr>
        <p:spPr/>
        <p:txBody>
          <a:bodyPr/>
          <a:lstStyle/>
          <a:p>
            <a:fld id="{7989FA7A-EF42-43C4-B5EC-509CAA7422BD}" type="slidenum">
              <a:rPr lang="en-US" smtClean="0"/>
              <a:t>4</a:t>
            </a:fld>
            <a:endParaRPr lang="en-US"/>
          </a:p>
        </p:txBody>
      </p:sp>
    </p:spTree>
    <p:extLst>
      <p:ext uri="{BB962C8B-B14F-4D97-AF65-F5344CB8AC3E}">
        <p14:creationId xmlns:p14="http://schemas.microsoft.com/office/powerpoint/2010/main" val="4014196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9FA7A-EF42-43C4-B5EC-509CAA7422BD}" type="slidenum">
              <a:rPr lang="en-US" smtClean="0"/>
              <a:t>5</a:t>
            </a:fld>
            <a:endParaRPr lang="en-US"/>
          </a:p>
        </p:txBody>
      </p:sp>
    </p:spTree>
    <p:extLst>
      <p:ext uri="{BB962C8B-B14F-4D97-AF65-F5344CB8AC3E}">
        <p14:creationId xmlns:p14="http://schemas.microsoft.com/office/powerpoint/2010/main" val="2414554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9FA7A-EF42-43C4-B5EC-509CAA7422BD}" type="slidenum">
              <a:rPr lang="en-US" smtClean="0"/>
              <a:t>6</a:t>
            </a:fld>
            <a:endParaRPr lang="en-US"/>
          </a:p>
        </p:txBody>
      </p:sp>
    </p:spTree>
    <p:extLst>
      <p:ext uri="{BB962C8B-B14F-4D97-AF65-F5344CB8AC3E}">
        <p14:creationId xmlns:p14="http://schemas.microsoft.com/office/powerpoint/2010/main" val="2548807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9FA7A-EF42-43C4-B5EC-509CAA7422BD}" type="slidenum">
              <a:rPr lang="en-US" smtClean="0"/>
              <a:t>7</a:t>
            </a:fld>
            <a:endParaRPr lang="en-US"/>
          </a:p>
        </p:txBody>
      </p:sp>
    </p:spTree>
    <p:extLst>
      <p:ext uri="{BB962C8B-B14F-4D97-AF65-F5344CB8AC3E}">
        <p14:creationId xmlns:p14="http://schemas.microsoft.com/office/powerpoint/2010/main" val="2056714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9FA7A-EF42-43C4-B5EC-509CAA7422BD}" type="slidenum">
              <a:rPr lang="en-US" smtClean="0"/>
              <a:t>8</a:t>
            </a:fld>
            <a:endParaRPr lang="en-US"/>
          </a:p>
        </p:txBody>
      </p:sp>
    </p:spTree>
    <p:extLst>
      <p:ext uri="{BB962C8B-B14F-4D97-AF65-F5344CB8AC3E}">
        <p14:creationId xmlns:p14="http://schemas.microsoft.com/office/powerpoint/2010/main" val="2539361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9FA7A-EF42-43C4-B5EC-509CAA7422BD}" type="slidenum">
              <a:rPr lang="en-US" smtClean="0"/>
              <a:t>9</a:t>
            </a:fld>
            <a:endParaRPr lang="en-US"/>
          </a:p>
        </p:txBody>
      </p:sp>
    </p:spTree>
    <p:extLst>
      <p:ext uri="{BB962C8B-B14F-4D97-AF65-F5344CB8AC3E}">
        <p14:creationId xmlns:p14="http://schemas.microsoft.com/office/powerpoint/2010/main" val="2172745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778E4-94C6-0208-6DB4-D43950CDA5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C79424-9A69-0317-6C03-0FA9E4BB67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70A002-A06A-EC4C-9625-008839DCE41E}"/>
              </a:ext>
            </a:extLst>
          </p:cNvPr>
          <p:cNvSpPr>
            <a:spLocks noGrp="1"/>
          </p:cNvSpPr>
          <p:nvPr>
            <p:ph type="dt" sz="half" idx="10"/>
          </p:nvPr>
        </p:nvSpPr>
        <p:spPr/>
        <p:txBody>
          <a:bodyPr/>
          <a:lstStyle/>
          <a:p>
            <a:fld id="{21390B68-90BC-41A7-8C66-2C86ECFC29D1}" type="datetimeFigureOut">
              <a:rPr lang="en-US" smtClean="0"/>
              <a:t>3/1/2026</a:t>
            </a:fld>
            <a:endParaRPr lang="en-US"/>
          </a:p>
        </p:txBody>
      </p:sp>
      <p:sp>
        <p:nvSpPr>
          <p:cNvPr id="5" name="Footer Placeholder 4">
            <a:extLst>
              <a:ext uri="{FF2B5EF4-FFF2-40B4-BE49-F238E27FC236}">
                <a16:creationId xmlns:a16="http://schemas.microsoft.com/office/drawing/2014/main" id="{148A58F9-FB34-F7B3-2212-0501D8FF1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318E1C-1A29-3BD9-28C9-B397DF8FC83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2414176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4E841-0F04-2DF1-CC64-08BB539AAF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69FD73-7CAA-15D7-8833-C81FA1295F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010031-9BF4-F524-95F7-6BD5CCE3CB83}"/>
              </a:ext>
            </a:extLst>
          </p:cNvPr>
          <p:cNvSpPr>
            <a:spLocks noGrp="1"/>
          </p:cNvSpPr>
          <p:nvPr>
            <p:ph type="dt" sz="half" idx="10"/>
          </p:nvPr>
        </p:nvSpPr>
        <p:spPr/>
        <p:txBody>
          <a:bodyPr/>
          <a:lstStyle/>
          <a:p>
            <a:fld id="{21390B68-90BC-41A7-8C66-2C86ECFC29D1}" type="datetimeFigureOut">
              <a:rPr lang="en-US" smtClean="0"/>
              <a:t>3/1/2026</a:t>
            </a:fld>
            <a:endParaRPr lang="en-US"/>
          </a:p>
        </p:txBody>
      </p:sp>
      <p:sp>
        <p:nvSpPr>
          <p:cNvPr id="5" name="Footer Placeholder 4">
            <a:extLst>
              <a:ext uri="{FF2B5EF4-FFF2-40B4-BE49-F238E27FC236}">
                <a16:creationId xmlns:a16="http://schemas.microsoft.com/office/drawing/2014/main" id="{4B6D2F7C-61AD-44F4-07D7-E37894662B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3D2930-5645-664F-7CFB-1A551C309062}"/>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30588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9F497-E1F7-3675-1AC5-510D390F81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E9F47B-704F-AD3B-2B66-1FD0D65834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633648-8B18-23B7-9621-C1D1B3A8D7A9}"/>
              </a:ext>
            </a:extLst>
          </p:cNvPr>
          <p:cNvSpPr>
            <a:spLocks noGrp="1"/>
          </p:cNvSpPr>
          <p:nvPr>
            <p:ph type="dt" sz="half" idx="10"/>
          </p:nvPr>
        </p:nvSpPr>
        <p:spPr/>
        <p:txBody>
          <a:bodyPr/>
          <a:lstStyle/>
          <a:p>
            <a:fld id="{21390B68-90BC-41A7-8C66-2C86ECFC29D1}" type="datetimeFigureOut">
              <a:rPr lang="en-US" smtClean="0"/>
              <a:t>3/1/2026</a:t>
            </a:fld>
            <a:endParaRPr lang="en-US"/>
          </a:p>
        </p:txBody>
      </p:sp>
      <p:sp>
        <p:nvSpPr>
          <p:cNvPr id="5" name="Footer Placeholder 4">
            <a:extLst>
              <a:ext uri="{FF2B5EF4-FFF2-40B4-BE49-F238E27FC236}">
                <a16:creationId xmlns:a16="http://schemas.microsoft.com/office/drawing/2014/main" id="{4529A776-B2D2-57C9-1093-7870C33A94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FF7E7-DB65-4B06-AF6A-755F0CC46755}"/>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4246791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1A9CA-50DB-614A-1A2E-DD3B09ED04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92DB55-5D94-31CD-E1BA-C686D61BFD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32C8B9-DA5E-96D7-87BB-CA21CD4E99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908E3B-F9FE-9E89-8304-DE8042E486DD}"/>
              </a:ext>
            </a:extLst>
          </p:cNvPr>
          <p:cNvSpPr>
            <a:spLocks noGrp="1"/>
          </p:cNvSpPr>
          <p:nvPr>
            <p:ph type="dt" sz="half" idx="10"/>
          </p:nvPr>
        </p:nvSpPr>
        <p:spPr/>
        <p:txBody>
          <a:bodyPr/>
          <a:lstStyle/>
          <a:p>
            <a:fld id="{21390B68-90BC-41A7-8C66-2C86ECFC29D1}" type="datetimeFigureOut">
              <a:rPr lang="en-US" smtClean="0"/>
              <a:t>3/1/2026</a:t>
            </a:fld>
            <a:endParaRPr lang="en-US"/>
          </a:p>
        </p:txBody>
      </p:sp>
      <p:sp>
        <p:nvSpPr>
          <p:cNvPr id="6" name="Footer Placeholder 5">
            <a:extLst>
              <a:ext uri="{FF2B5EF4-FFF2-40B4-BE49-F238E27FC236}">
                <a16:creationId xmlns:a16="http://schemas.microsoft.com/office/drawing/2014/main" id="{DE3F5BA8-9A5A-9326-5758-C18CBEAE64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6998E4-1DA6-8A52-4E02-C92F30662495}"/>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3636090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ACCC-D0F3-ABF7-AFC2-494F1D199A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A3EA47-4E34-B4AE-DFF3-615E557228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F7BF68-2EBD-23B1-FCDF-72E6598F36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A437AF-6236-F0FA-179F-87A26F865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8826C4-FB72-2B6C-65FA-F521C014C3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BF7EA5-83FD-668A-B927-296D69D37E44}"/>
              </a:ext>
            </a:extLst>
          </p:cNvPr>
          <p:cNvSpPr>
            <a:spLocks noGrp="1"/>
          </p:cNvSpPr>
          <p:nvPr>
            <p:ph type="dt" sz="half" idx="10"/>
          </p:nvPr>
        </p:nvSpPr>
        <p:spPr/>
        <p:txBody>
          <a:bodyPr/>
          <a:lstStyle/>
          <a:p>
            <a:fld id="{21390B68-90BC-41A7-8C66-2C86ECFC29D1}" type="datetimeFigureOut">
              <a:rPr lang="en-US" smtClean="0"/>
              <a:t>3/1/2026</a:t>
            </a:fld>
            <a:endParaRPr lang="en-US"/>
          </a:p>
        </p:txBody>
      </p:sp>
      <p:sp>
        <p:nvSpPr>
          <p:cNvPr id="8" name="Footer Placeholder 7">
            <a:extLst>
              <a:ext uri="{FF2B5EF4-FFF2-40B4-BE49-F238E27FC236}">
                <a16:creationId xmlns:a16="http://schemas.microsoft.com/office/drawing/2014/main" id="{B362DEE1-5CB9-4D5F-534A-6657FA8723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ECE262-F0B8-32C9-DF5C-3250752A126D}"/>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1441604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F0A52-0811-E240-2ED0-D1BB9E05CC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7E351D-BB06-394B-AC00-90BA643DD608}"/>
              </a:ext>
            </a:extLst>
          </p:cNvPr>
          <p:cNvSpPr>
            <a:spLocks noGrp="1"/>
          </p:cNvSpPr>
          <p:nvPr>
            <p:ph type="dt" sz="half" idx="10"/>
          </p:nvPr>
        </p:nvSpPr>
        <p:spPr/>
        <p:txBody>
          <a:bodyPr/>
          <a:lstStyle/>
          <a:p>
            <a:fld id="{21390B68-90BC-41A7-8C66-2C86ECFC29D1}" type="datetimeFigureOut">
              <a:rPr lang="en-US" smtClean="0"/>
              <a:t>3/1/2026</a:t>
            </a:fld>
            <a:endParaRPr lang="en-US"/>
          </a:p>
        </p:txBody>
      </p:sp>
      <p:sp>
        <p:nvSpPr>
          <p:cNvPr id="4" name="Footer Placeholder 3">
            <a:extLst>
              <a:ext uri="{FF2B5EF4-FFF2-40B4-BE49-F238E27FC236}">
                <a16:creationId xmlns:a16="http://schemas.microsoft.com/office/drawing/2014/main" id="{1BC2224B-9A9F-1F61-A4D0-BF4291421E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7B3A3F4-F2B9-E1CE-1875-59AF33149FA2}"/>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999097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10C23D-A8F3-05EF-8EE2-CE43483DA9BA}"/>
              </a:ext>
            </a:extLst>
          </p:cNvPr>
          <p:cNvSpPr>
            <a:spLocks noGrp="1"/>
          </p:cNvSpPr>
          <p:nvPr>
            <p:ph type="dt" sz="half" idx="10"/>
          </p:nvPr>
        </p:nvSpPr>
        <p:spPr/>
        <p:txBody>
          <a:bodyPr/>
          <a:lstStyle/>
          <a:p>
            <a:fld id="{21390B68-90BC-41A7-8C66-2C86ECFC29D1}" type="datetimeFigureOut">
              <a:rPr lang="en-US" smtClean="0"/>
              <a:t>3/1/2026</a:t>
            </a:fld>
            <a:endParaRPr lang="en-US"/>
          </a:p>
        </p:txBody>
      </p:sp>
      <p:sp>
        <p:nvSpPr>
          <p:cNvPr id="3" name="Footer Placeholder 2">
            <a:extLst>
              <a:ext uri="{FF2B5EF4-FFF2-40B4-BE49-F238E27FC236}">
                <a16:creationId xmlns:a16="http://schemas.microsoft.com/office/drawing/2014/main" id="{7F8ACA4C-672F-EB8F-E6D0-857DF045F9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FE54AE-96B9-9508-3219-56C4066887D5}"/>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1459821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8D49C-136E-7C91-FDA0-48ED28D6B5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920143-4027-E5D5-847E-59DE57C20D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59F61E-229A-5E7D-5B4E-A1C8B529D7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58892C-000C-CC29-0088-1C8026F65E70}"/>
              </a:ext>
            </a:extLst>
          </p:cNvPr>
          <p:cNvSpPr>
            <a:spLocks noGrp="1"/>
          </p:cNvSpPr>
          <p:nvPr>
            <p:ph type="dt" sz="half" idx="10"/>
          </p:nvPr>
        </p:nvSpPr>
        <p:spPr/>
        <p:txBody>
          <a:bodyPr/>
          <a:lstStyle/>
          <a:p>
            <a:fld id="{21390B68-90BC-41A7-8C66-2C86ECFC29D1}" type="datetimeFigureOut">
              <a:rPr lang="en-US" smtClean="0"/>
              <a:t>3/1/2026</a:t>
            </a:fld>
            <a:endParaRPr lang="en-US"/>
          </a:p>
        </p:txBody>
      </p:sp>
      <p:sp>
        <p:nvSpPr>
          <p:cNvPr id="6" name="Footer Placeholder 5">
            <a:extLst>
              <a:ext uri="{FF2B5EF4-FFF2-40B4-BE49-F238E27FC236}">
                <a16:creationId xmlns:a16="http://schemas.microsoft.com/office/drawing/2014/main" id="{CA0DAB9C-491C-4104-0399-D101D7C480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6798EB-0326-3B04-7B20-6F06E0E8E09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2352335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B3D29-721C-7C9D-2F3A-13087A112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F283DF-AD57-034E-EA4B-572D9AC17F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B1E938-7B08-F03B-9F32-72A7AD54F8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88A649-FAD0-A0AB-9ACD-46B9B3DD9386}"/>
              </a:ext>
            </a:extLst>
          </p:cNvPr>
          <p:cNvSpPr>
            <a:spLocks noGrp="1"/>
          </p:cNvSpPr>
          <p:nvPr>
            <p:ph type="dt" sz="half" idx="10"/>
          </p:nvPr>
        </p:nvSpPr>
        <p:spPr/>
        <p:txBody>
          <a:bodyPr/>
          <a:lstStyle/>
          <a:p>
            <a:fld id="{21390B68-90BC-41A7-8C66-2C86ECFC29D1}" type="datetimeFigureOut">
              <a:rPr lang="en-US" smtClean="0"/>
              <a:t>3/1/2026</a:t>
            </a:fld>
            <a:endParaRPr lang="en-US"/>
          </a:p>
        </p:txBody>
      </p:sp>
      <p:sp>
        <p:nvSpPr>
          <p:cNvPr id="6" name="Footer Placeholder 5">
            <a:extLst>
              <a:ext uri="{FF2B5EF4-FFF2-40B4-BE49-F238E27FC236}">
                <a16:creationId xmlns:a16="http://schemas.microsoft.com/office/drawing/2014/main" id="{C3CCA34A-B15E-B3A0-DA64-016B125ABC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3BB299-6B7D-A576-1EF0-DAB3A6EE9F9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3137214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6A670-5722-FB23-8E69-2A42B9577F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DC0DC9-8E57-C006-75DD-A973A71FBE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10F5A-AA1F-6A06-A353-173552009E15}"/>
              </a:ext>
            </a:extLst>
          </p:cNvPr>
          <p:cNvSpPr>
            <a:spLocks noGrp="1"/>
          </p:cNvSpPr>
          <p:nvPr>
            <p:ph type="dt" sz="half" idx="10"/>
          </p:nvPr>
        </p:nvSpPr>
        <p:spPr/>
        <p:txBody>
          <a:bodyPr/>
          <a:lstStyle/>
          <a:p>
            <a:fld id="{21390B68-90BC-41A7-8C66-2C86ECFC29D1}" type="datetimeFigureOut">
              <a:rPr lang="en-US" smtClean="0"/>
              <a:t>3/1/2026</a:t>
            </a:fld>
            <a:endParaRPr lang="en-US"/>
          </a:p>
        </p:txBody>
      </p:sp>
      <p:sp>
        <p:nvSpPr>
          <p:cNvPr id="5" name="Footer Placeholder 4">
            <a:extLst>
              <a:ext uri="{FF2B5EF4-FFF2-40B4-BE49-F238E27FC236}">
                <a16:creationId xmlns:a16="http://schemas.microsoft.com/office/drawing/2014/main" id="{AE757A4F-6AB3-F0D7-6697-38798986C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BEB094-AAB9-82DB-3BC8-2D6B9EA78119}"/>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414573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EAF20B-33BB-1731-EF38-117BF387E8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92BFD3-14E2-502E-CE8A-0B59E8EC8B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B921B9-37DA-F843-3AF4-3F73E9CA47A7}"/>
              </a:ext>
            </a:extLst>
          </p:cNvPr>
          <p:cNvSpPr>
            <a:spLocks noGrp="1"/>
          </p:cNvSpPr>
          <p:nvPr>
            <p:ph type="dt" sz="half" idx="10"/>
          </p:nvPr>
        </p:nvSpPr>
        <p:spPr/>
        <p:txBody>
          <a:bodyPr/>
          <a:lstStyle/>
          <a:p>
            <a:fld id="{21390B68-90BC-41A7-8C66-2C86ECFC29D1}" type="datetimeFigureOut">
              <a:rPr lang="en-US" smtClean="0"/>
              <a:t>3/1/2026</a:t>
            </a:fld>
            <a:endParaRPr lang="en-US"/>
          </a:p>
        </p:txBody>
      </p:sp>
      <p:sp>
        <p:nvSpPr>
          <p:cNvPr id="5" name="Footer Placeholder 4">
            <a:extLst>
              <a:ext uri="{FF2B5EF4-FFF2-40B4-BE49-F238E27FC236}">
                <a16:creationId xmlns:a16="http://schemas.microsoft.com/office/drawing/2014/main" id="{49A5CAE8-820B-33F6-5A4E-8E21651171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F60487-D3AB-589D-2D5E-61664C0340C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2267781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934AC8-30C2-B598-28B7-51100FC2AF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8484E3-8759-02A1-0325-BA22AA938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565ADC-EA12-5B3B-E42D-E8619370C6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390B68-90BC-41A7-8C66-2C86ECFC29D1}" type="datetimeFigureOut">
              <a:rPr lang="en-US" smtClean="0"/>
              <a:t>3/1/2026</a:t>
            </a:fld>
            <a:endParaRPr lang="en-US"/>
          </a:p>
        </p:txBody>
      </p:sp>
      <p:sp>
        <p:nvSpPr>
          <p:cNvPr id="5" name="Footer Placeholder 4">
            <a:extLst>
              <a:ext uri="{FF2B5EF4-FFF2-40B4-BE49-F238E27FC236}">
                <a16:creationId xmlns:a16="http://schemas.microsoft.com/office/drawing/2014/main" id="{FDA9A1C0-D26A-47D1-C2C5-74E31FF8FE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FA898D-2F74-2260-5CAC-07A25F7909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7E94FC-C976-47DB-AF10-00130952DF42}" type="slidenum">
              <a:rPr lang="en-US" smtClean="0"/>
              <a:t>‹#›</a:t>
            </a:fld>
            <a:endParaRPr lang="en-US"/>
          </a:p>
        </p:txBody>
      </p:sp>
    </p:spTree>
    <p:extLst>
      <p:ext uri="{BB962C8B-B14F-4D97-AF65-F5344CB8AC3E}">
        <p14:creationId xmlns:p14="http://schemas.microsoft.com/office/powerpoint/2010/main" val="592122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B98ED2-08AC-424F-36D5-5E2AB797FAF3}"/>
              </a:ext>
            </a:extLst>
          </p:cNvPr>
          <p:cNvSpPr>
            <a:spLocks noGrp="1"/>
          </p:cNvSpPr>
          <p:nvPr>
            <p:ph type="ctrTitle"/>
          </p:nvPr>
        </p:nvSpPr>
        <p:spPr>
          <a:xfrm>
            <a:off x="1386865" y="818984"/>
            <a:ext cx="6596245" cy="3268520"/>
          </a:xfrm>
        </p:spPr>
        <p:txBody>
          <a:bodyPr>
            <a:normAutofit/>
          </a:bodyPr>
          <a:lstStyle/>
          <a:p>
            <a:pPr algn="r"/>
            <a:r>
              <a:rPr lang="en-US" sz="4800" b="1" dirty="0">
                <a:solidFill>
                  <a:srgbClr val="FFFFFF"/>
                </a:solidFill>
              </a:rPr>
              <a:t>MSDS670_X40_Data Visualization</a:t>
            </a:r>
            <a:br>
              <a:rPr lang="en-US" sz="4800" b="1" dirty="0">
                <a:solidFill>
                  <a:srgbClr val="FFFFFF"/>
                </a:solidFill>
              </a:rPr>
            </a:br>
            <a:r>
              <a:rPr lang="en-US" sz="4800" b="1" dirty="0">
                <a:solidFill>
                  <a:srgbClr val="FFFFFF"/>
                </a:solidFill>
              </a:rPr>
              <a:t>Regis University</a:t>
            </a:r>
            <a:endParaRPr lang="en-US" sz="4800" dirty="0">
              <a:solidFill>
                <a:srgbClr val="FFFFFF"/>
              </a:solidFill>
            </a:endParaRP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DCBC2B6-3355-C804-7288-D09406F35CBB}"/>
              </a:ext>
            </a:extLst>
          </p:cNvPr>
          <p:cNvSpPr>
            <a:spLocks noGrp="1"/>
          </p:cNvSpPr>
          <p:nvPr>
            <p:ph type="subTitle" idx="1"/>
          </p:nvPr>
        </p:nvSpPr>
        <p:spPr>
          <a:xfrm>
            <a:off x="1931874" y="4797188"/>
            <a:ext cx="6051236" cy="1241828"/>
          </a:xfrm>
        </p:spPr>
        <p:txBody>
          <a:bodyPr>
            <a:normAutofit/>
          </a:bodyPr>
          <a:lstStyle/>
          <a:p>
            <a:pPr algn="r"/>
            <a:r>
              <a:rPr lang="en-US" dirty="0">
                <a:solidFill>
                  <a:srgbClr val="FFFFFF"/>
                </a:solidFill>
              </a:rPr>
              <a:t>Week 8 Final Project</a:t>
            </a:r>
          </a:p>
          <a:p>
            <a:pPr algn="r"/>
            <a:r>
              <a:rPr lang="en-US" dirty="0">
                <a:solidFill>
                  <a:srgbClr val="FFFFFF"/>
                </a:solidFill>
              </a:rPr>
              <a:t>Ilse Severance</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9868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98FE1-9000-FB33-8C6E-C5A107CE26D1}"/>
              </a:ext>
            </a:extLst>
          </p:cNvPr>
          <p:cNvSpPr>
            <a:spLocks noGrp="1"/>
          </p:cNvSpPr>
          <p:nvPr>
            <p:ph type="title"/>
          </p:nvPr>
        </p:nvSpPr>
        <p:spPr>
          <a:xfrm>
            <a:off x="838200" y="365126"/>
            <a:ext cx="10515600" cy="1023408"/>
          </a:xfrm>
        </p:spPr>
        <p:txBody>
          <a:bodyPr/>
          <a:lstStyle/>
          <a:p>
            <a:r>
              <a:rPr lang="en-US" dirty="0"/>
              <a:t>Introduction</a:t>
            </a:r>
          </a:p>
        </p:txBody>
      </p:sp>
      <p:sp>
        <p:nvSpPr>
          <p:cNvPr id="3" name="Content Placeholder 2">
            <a:extLst>
              <a:ext uri="{FF2B5EF4-FFF2-40B4-BE49-F238E27FC236}">
                <a16:creationId xmlns:a16="http://schemas.microsoft.com/office/drawing/2014/main" id="{569D5FCB-2DF4-8820-198C-49E02E97E7C2}"/>
              </a:ext>
            </a:extLst>
          </p:cNvPr>
          <p:cNvSpPr>
            <a:spLocks noGrp="1"/>
          </p:cNvSpPr>
          <p:nvPr>
            <p:ph idx="1"/>
          </p:nvPr>
        </p:nvSpPr>
        <p:spPr>
          <a:xfrm>
            <a:off x="838200" y="1670756"/>
            <a:ext cx="10515600" cy="4176889"/>
          </a:xfrm>
        </p:spPr>
        <p:txBody>
          <a:bodyPr>
            <a:normAutofit/>
          </a:bodyPr>
          <a:lstStyle/>
          <a:p>
            <a:pPr marL="0" indent="0">
              <a:buNone/>
            </a:pPr>
            <a:r>
              <a:rPr lang="en-US" sz="2400" dirty="0"/>
              <a:t>This study  aims to address the question: Where, when, and why do wildfires occur globally, and how do their intensity patterns vary across regions, seasons, and meteorological conditions? </a:t>
            </a:r>
          </a:p>
          <a:p>
            <a:pPr marL="0" indent="0">
              <a:buNone/>
            </a:pPr>
            <a:r>
              <a:rPr lang="en-US" sz="2400" dirty="0"/>
              <a:t>Between 2024 and 2025, satellites detected over 15,500 wildfire hotspots across seven fire prone regions. Preliminary analysis indicates high-risk areas in Central Africa, India, Southeast Asia, and northern Australia, moderate activity in the U.S., southern Africa, and parts of South America, and lower activity in Europe, northern Asia, and North America. By examining these spatial, temporal, and environmental patterns, the study aims to inform national-level assessments, seasonal planning, and meteorological risk for more effective wildfire management.</a:t>
            </a:r>
          </a:p>
        </p:txBody>
      </p:sp>
    </p:spTree>
    <p:extLst>
      <p:ext uri="{BB962C8B-B14F-4D97-AF65-F5344CB8AC3E}">
        <p14:creationId xmlns:p14="http://schemas.microsoft.com/office/powerpoint/2010/main" val="2930512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AC4E6-15AB-359E-D136-0EB2ABA1D764}"/>
              </a:ext>
            </a:extLst>
          </p:cNvPr>
          <p:cNvSpPr>
            <a:spLocks noGrp="1"/>
          </p:cNvSpPr>
          <p:nvPr>
            <p:ph type="title"/>
          </p:nvPr>
        </p:nvSpPr>
        <p:spPr>
          <a:xfrm>
            <a:off x="838200" y="365125"/>
            <a:ext cx="10515600" cy="899231"/>
          </a:xfrm>
        </p:spPr>
        <p:txBody>
          <a:bodyPr/>
          <a:lstStyle/>
          <a:p>
            <a:r>
              <a:rPr lang="en-US" dirty="0"/>
              <a:t>Methodology</a:t>
            </a:r>
          </a:p>
        </p:txBody>
      </p:sp>
      <p:sp>
        <p:nvSpPr>
          <p:cNvPr id="3" name="Content Placeholder 2">
            <a:extLst>
              <a:ext uri="{FF2B5EF4-FFF2-40B4-BE49-F238E27FC236}">
                <a16:creationId xmlns:a16="http://schemas.microsoft.com/office/drawing/2014/main" id="{FE9304E2-E172-F6D7-0EAE-CC96AF5361D1}"/>
              </a:ext>
            </a:extLst>
          </p:cNvPr>
          <p:cNvSpPr>
            <a:spLocks noGrp="1"/>
          </p:cNvSpPr>
          <p:nvPr>
            <p:ph idx="1"/>
          </p:nvPr>
        </p:nvSpPr>
        <p:spPr>
          <a:xfrm>
            <a:off x="838200" y="1490133"/>
            <a:ext cx="10515600" cy="4686830"/>
          </a:xfrm>
        </p:spPr>
        <p:txBody>
          <a:bodyPr>
            <a:normAutofit fontScale="77500" lnSpcReduction="20000"/>
          </a:bodyPr>
          <a:lstStyle/>
          <a:p>
            <a:pPr marL="514350" indent="-514350">
              <a:buFont typeface="+mj-lt"/>
              <a:buAutoNum type="arabicPeriod"/>
            </a:pPr>
            <a:r>
              <a:rPr lang="en-US" b="1" dirty="0"/>
              <a:t>Data Collection</a:t>
            </a:r>
          </a:p>
          <a:p>
            <a:pPr marL="0" indent="0">
              <a:buNone/>
            </a:pPr>
            <a:r>
              <a:rPr lang="en-US" dirty="0"/>
              <a:t>       All data in this study were collected from Kaggle.</a:t>
            </a:r>
          </a:p>
          <a:p>
            <a:pPr lvl="1" fontAlgn="ctr"/>
            <a:r>
              <a:rPr lang="en-US" dirty="0"/>
              <a:t>Fire hotspot data were derived from satellite sensors (MODIS and VIIRS).</a:t>
            </a:r>
          </a:p>
          <a:p>
            <a:pPr lvl="1" fontAlgn="ctr"/>
            <a:r>
              <a:rPr lang="en-US" dirty="0"/>
              <a:t>Meteorological variables include maximum temperature (°C), wind speed (km/h), precipitation (mm), and relative humidity (%).</a:t>
            </a:r>
          </a:p>
          <a:p>
            <a:pPr lvl="1" fontAlgn="ctr"/>
            <a:r>
              <a:rPr lang="en-US" dirty="0"/>
              <a:t>Spatial coverage: Seven fire prone regions across 35 countries, spanning January 2024 to December 2025</a:t>
            </a:r>
          </a:p>
          <a:p>
            <a:endParaRPr lang="en-US" dirty="0"/>
          </a:p>
          <a:p>
            <a:pPr marL="514350" indent="-514350">
              <a:buFont typeface="+mj-lt"/>
              <a:buAutoNum type="arabicPeriod" startAt="2"/>
            </a:pPr>
            <a:r>
              <a:rPr lang="en-US" b="1" dirty="0"/>
              <a:t>Analysis Techniques</a:t>
            </a:r>
          </a:p>
          <a:p>
            <a:pPr lvl="1"/>
            <a:r>
              <a:rPr lang="en-US" dirty="0"/>
              <a:t>Global Fire Density Heatmap: We aim to visualize the spatial concentration of fire intensity worldwide.</a:t>
            </a:r>
          </a:p>
          <a:p>
            <a:pPr lvl="1"/>
            <a:r>
              <a:rPr lang="en-US" dirty="0"/>
              <a:t>Top 10 Country Bar Chart: We aim to compare fire activity at the national level and highlight the most affected countries.</a:t>
            </a:r>
          </a:p>
          <a:p>
            <a:pPr lvl="1"/>
            <a:r>
              <a:rPr lang="en-US" dirty="0"/>
              <a:t>Temporal and Seasonal Heatmaps: We aim to identify trends in fire activity across months and seasons.</a:t>
            </a:r>
          </a:p>
          <a:p>
            <a:pPr lvl="1"/>
            <a:r>
              <a:rPr lang="en-US" dirty="0"/>
              <a:t>KDE Distributions of Meteorological Variables: We aim to examine how temperature, humidity, wind, and precipitation influence fire intensity.</a:t>
            </a:r>
          </a:p>
          <a:p>
            <a:pPr marL="457200" lvl="1" indent="0">
              <a:buNone/>
            </a:pPr>
            <a:endParaRPr lang="en-US" dirty="0"/>
          </a:p>
          <a:p>
            <a:endParaRPr lang="en-US" dirty="0"/>
          </a:p>
        </p:txBody>
      </p:sp>
    </p:spTree>
    <p:extLst>
      <p:ext uri="{BB962C8B-B14F-4D97-AF65-F5344CB8AC3E}">
        <p14:creationId xmlns:p14="http://schemas.microsoft.com/office/powerpoint/2010/main" val="4285418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09520-2B49-3AF2-6320-A16B6B4B9366}"/>
              </a:ext>
            </a:extLst>
          </p:cNvPr>
          <p:cNvSpPr>
            <a:spLocks noGrp="1"/>
          </p:cNvSpPr>
          <p:nvPr>
            <p:ph type="title"/>
          </p:nvPr>
        </p:nvSpPr>
        <p:spPr>
          <a:xfrm>
            <a:off x="838200" y="365125"/>
            <a:ext cx="10515600" cy="831497"/>
          </a:xfrm>
        </p:spPr>
        <p:txBody>
          <a:bodyPr/>
          <a:lstStyle/>
          <a:p>
            <a:r>
              <a:rPr lang="en-US" dirty="0"/>
              <a:t>Global Hotspot Distribution</a:t>
            </a:r>
          </a:p>
        </p:txBody>
      </p:sp>
      <p:pic>
        <p:nvPicPr>
          <p:cNvPr id="5" name="Picture 4">
            <a:extLst>
              <a:ext uri="{FF2B5EF4-FFF2-40B4-BE49-F238E27FC236}">
                <a16:creationId xmlns:a16="http://schemas.microsoft.com/office/drawing/2014/main" id="{07424A01-75F4-7C6E-B390-DF92C2D00E89}"/>
              </a:ext>
            </a:extLst>
          </p:cNvPr>
          <p:cNvPicPr>
            <a:picLocks noChangeAspect="1"/>
          </p:cNvPicPr>
          <p:nvPr/>
        </p:nvPicPr>
        <p:blipFill>
          <a:blip r:embed="rId3"/>
          <a:stretch>
            <a:fillRect/>
          </a:stretch>
        </p:blipFill>
        <p:spPr>
          <a:xfrm>
            <a:off x="0" y="1546577"/>
            <a:ext cx="7743696" cy="3970318"/>
          </a:xfrm>
          <a:prstGeom prst="rect">
            <a:avLst/>
          </a:prstGeom>
        </p:spPr>
      </p:pic>
      <p:sp>
        <p:nvSpPr>
          <p:cNvPr id="7" name="Rectangle 2">
            <a:extLst>
              <a:ext uri="{FF2B5EF4-FFF2-40B4-BE49-F238E27FC236}">
                <a16:creationId xmlns:a16="http://schemas.microsoft.com/office/drawing/2014/main" id="{01B89B4F-C52C-D6E7-D197-04D74D26FE77}"/>
              </a:ext>
            </a:extLst>
          </p:cNvPr>
          <p:cNvSpPr>
            <a:spLocks noGrp="1" noChangeArrowheads="1"/>
          </p:cNvSpPr>
          <p:nvPr>
            <p:ph idx="1"/>
          </p:nvPr>
        </p:nvSpPr>
        <p:spPr bwMode="auto">
          <a:xfrm>
            <a:off x="7743696" y="1875588"/>
            <a:ext cx="444830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Arial" panose="020B0604020202020204" pitchFamily="34" charset="0"/>
              </a:rPr>
              <a:t>High intensity hotspots: Central Africa, India, Southeast Asia, northern Australia, intense fires from seasonal burning, agriculture, and dry periods.</a:t>
            </a:r>
          </a:p>
          <a:p>
            <a:pPr eaLnBrk="0" fontAlgn="base" hangingPunct="0">
              <a:lnSpc>
                <a:spcPct val="100000"/>
              </a:lnSpc>
              <a:spcBef>
                <a:spcPct val="0"/>
              </a:spcBef>
              <a:spcAft>
                <a:spcPct val="0"/>
              </a:spcAft>
            </a:pPr>
            <a:endParaRPr kumimoji="0" lang="en-US" altLang="en-US" sz="180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Arial" panose="020B0604020202020204" pitchFamily="34" charset="0"/>
              </a:rPr>
              <a:t>Moderate regions: Western/central U.S., southern Africa, parts of South America</a:t>
            </a:r>
            <a:r>
              <a:rPr lang="en-US" altLang="en-US" sz="1800" dirty="0">
                <a:latin typeface="Arial" panose="020B0604020202020204" pitchFamily="34" charset="0"/>
              </a:rPr>
              <a:t>,</a:t>
            </a:r>
            <a:r>
              <a:rPr kumimoji="0" lang="en-US" altLang="en-US" sz="1800" i="0" u="none" strike="noStrike" cap="none" normalizeH="0" baseline="0" dirty="0">
                <a:ln>
                  <a:noFill/>
                </a:ln>
                <a:solidFill>
                  <a:schemeClr val="tx1"/>
                </a:solidFill>
                <a:effectLst/>
                <a:latin typeface="Arial" panose="020B0604020202020204" pitchFamily="34" charset="0"/>
              </a:rPr>
              <a:t> frequent but less intense fires.</a:t>
            </a:r>
          </a:p>
          <a:p>
            <a:pPr eaLnBrk="0" fontAlgn="base" hangingPunct="0">
              <a:lnSpc>
                <a:spcPct val="100000"/>
              </a:lnSpc>
              <a:spcBef>
                <a:spcPct val="0"/>
              </a:spcBef>
              <a:spcAft>
                <a:spcPct val="0"/>
              </a:spcAft>
            </a:pPr>
            <a:endParaRPr kumimoji="0" lang="en-US" altLang="en-US" sz="180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Arial" panose="020B0604020202020204" pitchFamily="34" charset="0"/>
              </a:rPr>
              <a:t>Low activity: Europe, northern Asia/North America, Middle East, minimal fires due to cooler climates or strong fire management.</a:t>
            </a:r>
          </a:p>
        </p:txBody>
      </p:sp>
    </p:spTree>
    <p:extLst>
      <p:ext uri="{BB962C8B-B14F-4D97-AF65-F5344CB8AC3E}">
        <p14:creationId xmlns:p14="http://schemas.microsoft.com/office/powerpoint/2010/main" val="1742541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A5A15-E115-AAB5-FC6E-7565D01A9DFD}"/>
              </a:ext>
            </a:extLst>
          </p:cNvPr>
          <p:cNvSpPr>
            <a:spLocks noGrp="1"/>
          </p:cNvSpPr>
          <p:nvPr>
            <p:ph type="title"/>
          </p:nvPr>
        </p:nvSpPr>
        <p:spPr/>
        <p:txBody>
          <a:bodyPr/>
          <a:lstStyle/>
          <a:p>
            <a:r>
              <a:rPr lang="en-US" dirty="0"/>
              <a:t>Top 10 Countries by Total Wildfire Radiative Power</a:t>
            </a:r>
          </a:p>
        </p:txBody>
      </p:sp>
      <p:sp>
        <p:nvSpPr>
          <p:cNvPr id="4" name="Rectangle 1">
            <a:extLst>
              <a:ext uri="{FF2B5EF4-FFF2-40B4-BE49-F238E27FC236}">
                <a16:creationId xmlns:a16="http://schemas.microsoft.com/office/drawing/2014/main" id="{FF45B6A7-346E-21D9-8820-BEC4C2996898}"/>
              </a:ext>
            </a:extLst>
          </p:cNvPr>
          <p:cNvSpPr>
            <a:spLocks noGrp="1" noChangeArrowheads="1"/>
          </p:cNvSpPr>
          <p:nvPr>
            <p:ph idx="1"/>
          </p:nvPr>
        </p:nvSpPr>
        <p:spPr bwMode="auto">
          <a:xfrm>
            <a:off x="7382404" y="2016135"/>
            <a:ext cx="454995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Arial" panose="020B0604020202020204" pitchFamily="34" charset="0"/>
              </a:rPr>
              <a:t>Australia leads globally, followed by the United States, indicating exceptionally intense and widespread fire activity in these countries.</a:t>
            </a:r>
          </a:p>
          <a:p>
            <a:pPr eaLnBrk="0" fontAlgn="base" hangingPunct="0">
              <a:lnSpc>
                <a:spcPct val="100000"/>
              </a:lnSpc>
              <a:spcBef>
                <a:spcPct val="0"/>
              </a:spcBef>
              <a:spcAft>
                <a:spcPct val="0"/>
              </a:spcAft>
            </a:pPr>
            <a:endParaRPr kumimoji="0" lang="en-US" altLang="en-US" sz="180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Arial" panose="020B0604020202020204" pitchFamily="34" charset="0"/>
              </a:rPr>
              <a:t>Mid tier cluster (Mexico, Canada, Argentina, Venezuela, Bolivia) reflects sustained fire seasons with significant biomass consumption.</a:t>
            </a:r>
            <a:endParaRPr lang="en-US" altLang="en-US" sz="1800" dirty="0">
              <a:latin typeface="Arial" panose="020B0604020202020204" pitchFamily="34" charset="0"/>
            </a:endParaRPr>
          </a:p>
          <a:p>
            <a:pPr eaLnBrk="0" fontAlgn="base" hangingPunct="0">
              <a:lnSpc>
                <a:spcPct val="100000"/>
              </a:lnSpc>
              <a:spcBef>
                <a:spcPct val="0"/>
              </a:spcBef>
              <a:spcAft>
                <a:spcPct val="0"/>
              </a:spcAft>
            </a:pPr>
            <a:endParaRPr kumimoji="0" lang="en-US" altLang="en-US" sz="180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Arial" panose="020B0604020202020204" pitchFamily="34" charset="0"/>
              </a:rPr>
              <a:t>Colombia, Peru, and Brazil round out the top ten, showing notable fire activity</a:t>
            </a:r>
            <a:r>
              <a:rPr lang="en-US" altLang="en-US" sz="1800" dirty="0">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due to agricultural expansion and deforestation.</a:t>
            </a:r>
          </a:p>
        </p:txBody>
      </p:sp>
      <p:pic>
        <p:nvPicPr>
          <p:cNvPr id="8" name="Picture 7">
            <a:extLst>
              <a:ext uri="{FF2B5EF4-FFF2-40B4-BE49-F238E27FC236}">
                <a16:creationId xmlns:a16="http://schemas.microsoft.com/office/drawing/2014/main" id="{81E1CF4A-DB9F-6D1E-9936-03A8E93376E0}"/>
              </a:ext>
            </a:extLst>
          </p:cNvPr>
          <p:cNvPicPr>
            <a:picLocks noChangeAspect="1"/>
          </p:cNvPicPr>
          <p:nvPr/>
        </p:nvPicPr>
        <p:blipFill>
          <a:blip r:embed="rId3"/>
          <a:stretch>
            <a:fillRect/>
          </a:stretch>
        </p:blipFill>
        <p:spPr>
          <a:xfrm>
            <a:off x="96660" y="1872776"/>
            <a:ext cx="6846007" cy="4257035"/>
          </a:xfrm>
          <a:prstGeom prst="rect">
            <a:avLst/>
          </a:prstGeom>
        </p:spPr>
      </p:pic>
    </p:spTree>
    <p:extLst>
      <p:ext uri="{BB962C8B-B14F-4D97-AF65-F5344CB8AC3E}">
        <p14:creationId xmlns:p14="http://schemas.microsoft.com/office/powerpoint/2010/main" val="366813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A189E-738D-076D-CD8D-0714D74FC153}"/>
              </a:ext>
            </a:extLst>
          </p:cNvPr>
          <p:cNvSpPr>
            <a:spLocks noGrp="1"/>
          </p:cNvSpPr>
          <p:nvPr>
            <p:ph type="title"/>
          </p:nvPr>
        </p:nvSpPr>
        <p:spPr>
          <a:xfrm>
            <a:off x="838199" y="150638"/>
            <a:ext cx="10515600" cy="887942"/>
          </a:xfrm>
        </p:spPr>
        <p:txBody>
          <a:bodyPr>
            <a:normAutofit fontScale="90000"/>
          </a:bodyPr>
          <a:lstStyle/>
          <a:p>
            <a:pPr algn="ctr"/>
            <a:r>
              <a:rPr lang="en-US" dirty="0"/>
              <a:t>Seasonal Patterns of Monthly Fire Detection by Region</a:t>
            </a:r>
          </a:p>
        </p:txBody>
      </p:sp>
      <p:sp>
        <p:nvSpPr>
          <p:cNvPr id="6" name="Rectangle 1">
            <a:extLst>
              <a:ext uri="{FF2B5EF4-FFF2-40B4-BE49-F238E27FC236}">
                <a16:creationId xmlns:a16="http://schemas.microsoft.com/office/drawing/2014/main" id="{98AE91AD-727F-7F0A-C2D8-CDA239158CCD}"/>
              </a:ext>
            </a:extLst>
          </p:cNvPr>
          <p:cNvSpPr>
            <a:spLocks noGrp="1" noChangeArrowheads="1"/>
          </p:cNvSpPr>
          <p:nvPr>
            <p:ph idx="1"/>
          </p:nvPr>
        </p:nvSpPr>
        <p:spPr bwMode="auto">
          <a:xfrm>
            <a:off x="372532" y="5177950"/>
            <a:ext cx="1144693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sz="1800" dirty="0"/>
              <a:t>Wildfire occurrence closely follows distinct regional climatic and seasonal patterns. </a:t>
            </a:r>
          </a:p>
          <a:p>
            <a:pPr eaLnBrk="0" fontAlgn="base" hangingPunct="0">
              <a:lnSpc>
                <a:spcPct val="100000"/>
              </a:lnSpc>
              <a:spcBef>
                <a:spcPct val="0"/>
              </a:spcBef>
              <a:spcAft>
                <a:spcPct val="0"/>
              </a:spcAft>
            </a:pPr>
            <a:r>
              <a:rPr lang="en-US" sz="1800" dirty="0"/>
              <a:t>Peaks align with hemispheric and regional climate cycles</a:t>
            </a:r>
          </a:p>
          <a:p>
            <a:pPr eaLnBrk="0" fontAlgn="base" hangingPunct="0">
              <a:lnSpc>
                <a:spcPct val="100000"/>
              </a:lnSpc>
              <a:spcBef>
                <a:spcPct val="0"/>
              </a:spcBef>
              <a:spcAft>
                <a:spcPct val="0"/>
              </a:spcAft>
            </a:pPr>
            <a:r>
              <a:rPr lang="en-US" sz="1800" dirty="0"/>
              <a:t>These temporal trends highlight the importance of incorporating localized, seasonally aware strategies in fire risk forecasting, resource allocation, and disaster preparedness to improve mitigation and response effectiveness.</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05384037-0CD9-D774-1299-1E2AFD028374}"/>
              </a:ext>
            </a:extLst>
          </p:cNvPr>
          <p:cNvPicPr>
            <a:picLocks noChangeAspect="1"/>
          </p:cNvPicPr>
          <p:nvPr/>
        </p:nvPicPr>
        <p:blipFill>
          <a:blip r:embed="rId3"/>
          <a:stretch>
            <a:fillRect/>
          </a:stretch>
        </p:blipFill>
        <p:spPr>
          <a:xfrm>
            <a:off x="2088809" y="1192052"/>
            <a:ext cx="8014382" cy="3665492"/>
          </a:xfrm>
          <a:prstGeom prst="rect">
            <a:avLst/>
          </a:prstGeom>
        </p:spPr>
      </p:pic>
    </p:spTree>
    <p:extLst>
      <p:ext uri="{BB962C8B-B14F-4D97-AF65-F5344CB8AC3E}">
        <p14:creationId xmlns:p14="http://schemas.microsoft.com/office/powerpoint/2010/main" val="287167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49104-3F75-7BB7-E8C4-F0C045629155}"/>
              </a:ext>
            </a:extLst>
          </p:cNvPr>
          <p:cNvSpPr>
            <a:spLocks noGrp="1"/>
          </p:cNvSpPr>
          <p:nvPr>
            <p:ph type="title"/>
          </p:nvPr>
        </p:nvSpPr>
        <p:spPr/>
        <p:txBody>
          <a:bodyPr/>
          <a:lstStyle/>
          <a:p>
            <a:r>
              <a:rPr lang="en-US" dirty="0"/>
              <a:t>Regional Variation in Average Seasonal Wildfire Risk</a:t>
            </a:r>
          </a:p>
        </p:txBody>
      </p:sp>
      <p:sp>
        <p:nvSpPr>
          <p:cNvPr id="6" name="Rectangle 1">
            <a:extLst>
              <a:ext uri="{FF2B5EF4-FFF2-40B4-BE49-F238E27FC236}">
                <a16:creationId xmlns:a16="http://schemas.microsoft.com/office/drawing/2014/main" id="{C3CD71AC-900B-11BA-BFB3-1FC4CBDF5D7F}"/>
              </a:ext>
            </a:extLst>
          </p:cNvPr>
          <p:cNvSpPr>
            <a:spLocks noGrp="1" noChangeArrowheads="1"/>
          </p:cNvSpPr>
          <p:nvPr>
            <p:ph idx="1"/>
          </p:nvPr>
        </p:nvSpPr>
        <p:spPr bwMode="auto">
          <a:xfrm>
            <a:off x="7179733" y="2357789"/>
            <a:ext cx="4783513" cy="3683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Summer peaks fire risk in most regions</a:t>
            </a:r>
            <a:r>
              <a:rPr lang="en-US" altLang="en-US" sz="2000" dirty="0"/>
              <a:t>, especially North America and the Mediterranean.</a:t>
            </a:r>
            <a:endParaRPr lang="en-US" sz="2000" dirty="0"/>
          </a:p>
          <a:p>
            <a:r>
              <a:rPr lang="en-US" sz="2000" dirty="0"/>
              <a:t>Australia shows highest risk in Spring &amp; Summer.</a:t>
            </a:r>
          </a:p>
          <a:p>
            <a:r>
              <a:rPr lang="en-US" sz="2000" dirty="0"/>
              <a:t>South America &amp; Sub-Saharan Africa have steady year-round risk.</a:t>
            </a:r>
          </a:p>
          <a:p>
            <a:r>
              <a:rPr lang="en-US" sz="2000" dirty="0"/>
              <a:t>Winter risk is minimal across regions.</a:t>
            </a:r>
          </a:p>
          <a:p>
            <a:r>
              <a:rPr lang="en-US" sz="2000" dirty="0"/>
              <a:t>Fire risk aligns with regional climates, not global cycles.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p:txBody>
      </p:sp>
      <p:pic>
        <p:nvPicPr>
          <p:cNvPr id="8" name="Picture 7">
            <a:extLst>
              <a:ext uri="{FF2B5EF4-FFF2-40B4-BE49-F238E27FC236}">
                <a16:creationId xmlns:a16="http://schemas.microsoft.com/office/drawing/2014/main" id="{9142AB54-8DBA-F41B-ADA9-422DC9738DE5}"/>
              </a:ext>
            </a:extLst>
          </p:cNvPr>
          <p:cNvPicPr>
            <a:picLocks noChangeAspect="1"/>
          </p:cNvPicPr>
          <p:nvPr/>
        </p:nvPicPr>
        <p:blipFill>
          <a:blip r:embed="rId3"/>
          <a:stretch>
            <a:fillRect/>
          </a:stretch>
        </p:blipFill>
        <p:spPr>
          <a:xfrm>
            <a:off x="228754" y="1973796"/>
            <a:ext cx="6273646" cy="3916880"/>
          </a:xfrm>
          <a:prstGeom prst="rect">
            <a:avLst/>
          </a:prstGeom>
        </p:spPr>
      </p:pic>
    </p:spTree>
    <p:extLst>
      <p:ext uri="{BB962C8B-B14F-4D97-AF65-F5344CB8AC3E}">
        <p14:creationId xmlns:p14="http://schemas.microsoft.com/office/powerpoint/2010/main" val="130877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F3817-CAE0-9DD3-218D-13D73B5BB1D4}"/>
              </a:ext>
            </a:extLst>
          </p:cNvPr>
          <p:cNvSpPr>
            <a:spLocks noGrp="1"/>
          </p:cNvSpPr>
          <p:nvPr>
            <p:ph type="title"/>
          </p:nvPr>
        </p:nvSpPr>
        <p:spPr/>
        <p:txBody>
          <a:bodyPr/>
          <a:lstStyle/>
          <a:p>
            <a:r>
              <a:rPr lang="en-US" dirty="0"/>
              <a:t>Atmospheric Variable Distributions by Fire Intensity</a:t>
            </a:r>
          </a:p>
        </p:txBody>
      </p:sp>
      <p:sp>
        <p:nvSpPr>
          <p:cNvPr id="3" name="Content Placeholder 2">
            <a:extLst>
              <a:ext uri="{FF2B5EF4-FFF2-40B4-BE49-F238E27FC236}">
                <a16:creationId xmlns:a16="http://schemas.microsoft.com/office/drawing/2014/main" id="{63BA87D4-8EBC-20DD-C93D-66570E91D1EB}"/>
              </a:ext>
            </a:extLst>
          </p:cNvPr>
          <p:cNvSpPr>
            <a:spLocks noGrp="1"/>
          </p:cNvSpPr>
          <p:nvPr>
            <p:ph idx="1"/>
          </p:nvPr>
        </p:nvSpPr>
        <p:spPr>
          <a:xfrm>
            <a:off x="7796981" y="2081231"/>
            <a:ext cx="4395019" cy="4111378"/>
          </a:xfrm>
        </p:spPr>
        <p:txBody>
          <a:bodyPr>
            <a:normAutofit lnSpcReduction="10000"/>
          </a:bodyPr>
          <a:lstStyle/>
          <a:p>
            <a:r>
              <a:rPr lang="en-US" sz="2000" dirty="0"/>
              <a:t>The distribution plots indicate that high temperatures and low humidity are the most distinguishing atmospheric factors associated with extreme wildfire intensity.</a:t>
            </a:r>
          </a:p>
          <a:p>
            <a:endParaRPr lang="en-US" sz="2000" dirty="0"/>
          </a:p>
          <a:p>
            <a:r>
              <a:rPr lang="en-US" sz="2000" dirty="0"/>
              <a:t> Wind acts as a compounding factor, increasing fire spread and severity. </a:t>
            </a:r>
          </a:p>
          <a:p>
            <a:endParaRPr lang="en-US" sz="2000" dirty="0"/>
          </a:p>
          <a:p>
            <a:r>
              <a:rPr lang="en-US" sz="2000" dirty="0"/>
              <a:t>Precipitation appears necessary for fire suppression, but its effect is harder to detect if the timing of the rain is not being considered.</a:t>
            </a:r>
          </a:p>
        </p:txBody>
      </p:sp>
      <p:pic>
        <p:nvPicPr>
          <p:cNvPr id="5" name="Picture 4">
            <a:extLst>
              <a:ext uri="{FF2B5EF4-FFF2-40B4-BE49-F238E27FC236}">
                <a16:creationId xmlns:a16="http://schemas.microsoft.com/office/drawing/2014/main" id="{46CEAD8E-150F-CD90-2C79-F5B112C518E6}"/>
              </a:ext>
            </a:extLst>
          </p:cNvPr>
          <p:cNvPicPr>
            <a:picLocks noChangeAspect="1"/>
          </p:cNvPicPr>
          <p:nvPr/>
        </p:nvPicPr>
        <p:blipFill>
          <a:blip r:embed="rId3"/>
          <a:stretch>
            <a:fillRect/>
          </a:stretch>
        </p:blipFill>
        <p:spPr>
          <a:xfrm>
            <a:off x="0" y="1936953"/>
            <a:ext cx="7462052" cy="4399935"/>
          </a:xfrm>
          <a:prstGeom prst="rect">
            <a:avLst/>
          </a:prstGeom>
        </p:spPr>
      </p:pic>
    </p:spTree>
    <p:extLst>
      <p:ext uri="{BB962C8B-B14F-4D97-AF65-F5344CB8AC3E}">
        <p14:creationId xmlns:p14="http://schemas.microsoft.com/office/powerpoint/2010/main" val="682779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D6AF4-8761-08FE-35AE-2528C342EE7A}"/>
              </a:ext>
            </a:extLst>
          </p:cNvPr>
          <p:cNvSpPr>
            <a:spLocks noGrp="1"/>
          </p:cNvSpPr>
          <p:nvPr>
            <p:ph type="title"/>
          </p:nvPr>
        </p:nvSpPr>
        <p:spPr>
          <a:xfrm>
            <a:off x="838200" y="229659"/>
            <a:ext cx="10515600" cy="844243"/>
          </a:xfrm>
        </p:spPr>
        <p:txBody>
          <a:bodyPr/>
          <a:lstStyle/>
          <a:p>
            <a:r>
              <a:rPr lang="en-US" dirty="0"/>
              <a:t>Conclusions</a:t>
            </a:r>
          </a:p>
        </p:txBody>
      </p:sp>
      <p:sp>
        <p:nvSpPr>
          <p:cNvPr id="3" name="Content Placeholder 2">
            <a:extLst>
              <a:ext uri="{FF2B5EF4-FFF2-40B4-BE49-F238E27FC236}">
                <a16:creationId xmlns:a16="http://schemas.microsoft.com/office/drawing/2014/main" id="{C47C8D3E-8E53-0A00-E368-9482D92859D7}"/>
              </a:ext>
            </a:extLst>
          </p:cNvPr>
          <p:cNvSpPr>
            <a:spLocks noGrp="1"/>
          </p:cNvSpPr>
          <p:nvPr>
            <p:ph idx="1"/>
          </p:nvPr>
        </p:nvSpPr>
        <p:spPr>
          <a:xfrm>
            <a:off x="838200" y="1264356"/>
            <a:ext cx="10515600" cy="5059363"/>
          </a:xfrm>
        </p:spPr>
        <p:txBody>
          <a:bodyPr>
            <a:normAutofit lnSpcReduction="10000"/>
          </a:bodyPr>
          <a:lstStyle/>
          <a:p>
            <a:pPr marL="0" indent="0">
              <a:buNone/>
            </a:pPr>
            <a:r>
              <a:rPr lang="en-US" sz="2400" dirty="0"/>
              <a:t>During this analysis, we found that wildfire risk is highest in tropical and subtropical regions, with seasonal peaks creating critical operational hotspots. Australia, the U.S., Central Africa, India, and Southeast Asia experienced the most intense fire activity, while Europe, northern Asia, and North America showed lower exposure.</a:t>
            </a:r>
          </a:p>
          <a:p>
            <a:pPr marL="0" indent="0">
              <a:buNone/>
            </a:pPr>
            <a:r>
              <a:rPr lang="en-US" sz="2400" dirty="0"/>
              <a:t>At the national level, Australia and the U.S. lead in fire intensity, with several South American countries emerging as hotspots due to agricultural expansion and deforestation.</a:t>
            </a:r>
          </a:p>
          <a:p>
            <a:pPr marL="0" indent="0">
              <a:buNone/>
            </a:pPr>
            <a:r>
              <a:rPr lang="en-US" sz="2400" dirty="0"/>
              <a:t>The data also shows that high temperatures, low humidity, strong winds, and limited precipitation are key drivers of fire severity. These insights support predictive modeling, early warning systems, and more effective resource deployment.</a:t>
            </a:r>
          </a:p>
          <a:p>
            <a:pPr marL="0" indent="0">
              <a:buNone/>
            </a:pPr>
            <a:r>
              <a:rPr lang="en-US" sz="2400" dirty="0"/>
              <a:t>By integrating spatial, seasonal, and meteorological data, organizations can make data-driven decisions to mitigate wildfire risk and improve operational planning.</a:t>
            </a:r>
          </a:p>
        </p:txBody>
      </p:sp>
    </p:spTree>
    <p:extLst>
      <p:ext uri="{BB962C8B-B14F-4D97-AF65-F5344CB8AC3E}">
        <p14:creationId xmlns:p14="http://schemas.microsoft.com/office/powerpoint/2010/main" val="17600143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16407</TotalTime>
  <Words>801</Words>
  <Application>Microsoft Office PowerPoint</Application>
  <PresentationFormat>Widescreen</PresentationFormat>
  <Paragraphs>60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MSDS670_X40_Data Visualization Regis University</vt:lpstr>
      <vt:lpstr>Introduction</vt:lpstr>
      <vt:lpstr>Methodology</vt:lpstr>
      <vt:lpstr>Global Hotspot Distribution</vt:lpstr>
      <vt:lpstr>Top 10 Countries by Total Wildfire Radiative Power</vt:lpstr>
      <vt:lpstr>Seasonal Patterns of Monthly Fire Detection by Region</vt:lpstr>
      <vt:lpstr>Regional Variation in Average Seasonal Wildfire Risk</vt:lpstr>
      <vt:lpstr>Atmospheric Variable Distributions by Fire Intensity</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Severance</dc:creator>
  <cp:lastModifiedBy>Nathan Severance</cp:lastModifiedBy>
  <cp:revision>9</cp:revision>
  <dcterms:created xsi:type="dcterms:W3CDTF">2026-01-16T22:09:56Z</dcterms:created>
  <dcterms:modified xsi:type="dcterms:W3CDTF">2026-03-09T02:43:51Z</dcterms:modified>
</cp:coreProperties>
</file>